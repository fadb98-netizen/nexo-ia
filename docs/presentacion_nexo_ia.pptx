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Presentarse brevemente. Completar ANTES de exponer: nombre, padrón, materia y año en los recuadros de la portada (quedaron marcados entre corchetes a propósito, no son datos reales). Frase de apertura sugerida: 'Nexo IA es un asistente que responde preguntas sobre datos comerciales con evidencia verificable, no con texto generado libremente.'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base comercial real tiene decenas de miles de filas y 5 dimensiones cruzables. Un dashboard tradicional muestra QUE algo cambió; encontrar POR QUE (qué combinación de variables lo explica) requiere consultas manuales que casi nadie hace en la práctica. Mostrar visualmente el contraste de los dos recuadros — es la idea central de la diapositiva.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mapa general de la aplicación. Enfatizar el orden: TODO el cálculo (pasos 2-5) pasa antes de que la IA participe. La frase destacada en el recuadro es el punto más importante de toda la exposición — conviene decirla despacio.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prioritaria. Explicar la ventana temporal (16 semanas fijas del dataset: 4 recientes vs. 4 comparativas, con 8 más de histórico para persistencia) y remarcar que ninguna de estas métricas la calcula el modelo de lenguaje — todo sale de Polars sobre el DataFrame. El ejemplo de pedido_id vs. fila de CSV es el detalle técnico que más suele generar preguntas: tenerlo preparado con un ejemplo de 2-3 filas si preguntan.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central del proyecto. La cuenta 5+10+10+5+1=31 es el número combinatorio C(5,1)+C(5,2)+C(5,3)+C(5,4)+C(5,5) = 2^5-1. Remarcar 'siempre calculadas todas, antes de filtrar' — es una decisión de diseño explícita para no perder patrones que sólo aparecen en cruces profundos. El filtro de materialidad es lo único que se aplica DESPUES del cálculo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diapositiva responde la pregunta que más van a hacer los profesores: '¿qué hace exactamente la IA acá?'. Enfatizar que la columna de Python son operaciones de código (Polars/pandas-like), y la columna de IA son decisiones de redacción e investigación sobre resultados YA calculados — nunca al revés. Las 5 reglas de seguridad están implementadas como código (un validador), no sólo como instrucciones de prompt — mencionarlo si preguntan cómo se garantiza.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Diapositiva prioritaria. El ejemplo de Sucursal Norte x Familia Alfa (-61%, 27.161 a 10.600 USD) es un resultado REAL, verificado corriendo el motor sobre el dataset de demo del repositorio (data/datos_demo.csv) — no es un número inventado para la presentación. IMPORTANTE: reemplazar el mini-gráfico dibujado por una captura de pantalla real de la app respondiendo esta misma pregunta antes de exponer, si es posible. El punto clave a explicar: la IA nunca genera los puntos del gráfico, sólo pide chart_type + filtros y Python calcula.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Insertar 1-2 capturas reales de la app desplegada (nexo-ia-eta.vercel.app): el dashboard principal con KPIs + hallazgos, y opcionalmente el copiloto respondiendo una pregunta. No usar más de dos capturas. Si se expone en vivo, esta es la diapositiva ideal para pasar a la demo real en el navegador en vez de mostrar una imagen estática.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profundizar demasiado en cada tecnología individualmente — el foco tiene que ser POR QUE cada una resuelve una restricción concreta del proyecto (última sección de la diapositiva), no una lista de buzzwords. Aclarar que 'estilo shadcn/ui' significa componentes escritos a mano siguiendo esa estética, no la librería shadcn instalada como dependencia. Supabase está marcado como opcional porque la app funciona igual sin configurarlo (modo memoria).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Leer la frase destacada tal cual, despacio — es la síntesis de todo el proyecto. Si preguntan por próximos pasos que NO están implementados (autenticación de usuarios, persistencia completa de corridas, etc.), aclarar explícitamente que son diseño propuesto / mejora futura, no funcionalidad actual — están documentados como tales en docs/DECISIONES_DEL_PROYECTO.md del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NEXO IA · TRABAJO PRACTICO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E8ECF2"/>
                </a:solidFill>
                <a:latin typeface="Consolas"/>
              </a:rPr>
              <a:t>Nexo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>
                <a:solidFill>
                  <a:srgbClr val="9AA4B2"/>
                </a:solidFill>
                <a:latin typeface="Segoe UI"/>
              </a:rPr>
              <a:t>Asistente inteligente para análisis comercial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46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1">
                <a:solidFill>
                  <a:srgbClr val="3DD6CE"/>
                </a:solidFill>
                <a:latin typeface="Consolas"/>
              </a:rPr>
              <a:t>Python calcula. La inteligencia artificial interpreta.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709160"/>
            <a:ext cx="10817352" cy="141732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9560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636D7C"/>
                </a:solidFill>
                <a:latin typeface="Consolas"/>
              </a:rPr>
              <a:t>ALUMNO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230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8ECF2"/>
                </a:solidFill>
                <a:latin typeface="Segoe UI"/>
              </a:rPr>
              <a:t>[NOMBRE DEL ALUMNO]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49560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636D7C"/>
                </a:solidFill>
                <a:latin typeface="Consolas"/>
              </a:rPr>
              <a:t>PADRÓN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5230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8ECF2"/>
                </a:solidFill>
                <a:latin typeface="Segoe UI"/>
              </a:rPr>
              <a:t>[PADRÓN]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9560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636D7C"/>
                </a:solidFill>
                <a:latin typeface="Consolas"/>
              </a:rPr>
              <a:t>MATERIA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230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8ECF2"/>
                </a:solidFill>
                <a:latin typeface="Segoe UI"/>
              </a:rPr>
              <a:t>[MATERIA]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495604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636D7C"/>
                </a:solidFill>
                <a:latin typeface="Consolas"/>
              </a:rPr>
              <a:t>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52303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8ECF2"/>
                </a:solidFill>
                <a:latin typeface="Segoe UI"/>
              </a:rPr>
              <a:t>[AÑO]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7150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 i="0">
                <a:solidFill>
                  <a:srgbClr val="636D7C"/>
                </a:solidFill>
                <a:latin typeface="Consolas"/>
              </a:rPr>
              <a:t>Tecnologías principales: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9436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9AA4B2"/>
                </a:solidFill>
                <a:latin typeface="Segoe UI"/>
              </a:rPr>
              <a:t>Next.js  ·  TypeScript  ·  FastAPI  ·  Polars  ·  OpenAI  ·  Apache ECharts  ·  Supabase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ECF2"/>
                </a:solidFill>
                <a:latin typeface="Consolas"/>
              </a:rPr>
              <a:t>Encontrar el patrón, no solo ver el número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502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36D7C"/>
                </a:solidFill>
                <a:latin typeface="Consolas"/>
              </a:rPr>
              <a:t>02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758952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0" i="0">
                <a:solidFill>
                  <a:srgbClr val="9AA4B2"/>
                </a:solidFill>
                <a:latin typeface="Consolas"/>
              </a:rPr>
              <a:t>Sucursal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600200"/>
            <a:ext cx="681228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0" i="0">
                <a:solidFill>
                  <a:srgbClr val="9AA4B2"/>
                </a:solidFill>
                <a:latin typeface="Consolas"/>
              </a:rPr>
              <a:t>Familia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45436" y="1600200"/>
            <a:ext cx="1458468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0" i="0">
                <a:solidFill>
                  <a:srgbClr val="9AA4B2"/>
                </a:solidFill>
                <a:latin typeface="Consolas"/>
              </a:rPr>
              <a:t>Sector industrial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13632" y="1600200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0" i="0">
                <a:solidFill>
                  <a:srgbClr val="9AA4B2"/>
                </a:solidFill>
                <a:latin typeface="Consolas"/>
              </a:rPr>
              <a:t>Asesor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26864" y="1600200"/>
            <a:ext cx="836676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0" i="0">
                <a:solidFill>
                  <a:srgbClr val="9AA4B2"/>
                </a:solidFill>
                <a:latin typeface="Consolas"/>
              </a:rPr>
              <a:t>Clase ABC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3268" y="1600200"/>
            <a:ext cx="681228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0" i="0">
                <a:solidFill>
                  <a:srgbClr val="9AA4B2"/>
                </a:solidFill>
                <a:latin typeface="Consolas"/>
              </a:rPr>
              <a:t>Pedidos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64224" y="16002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0" i="0">
                <a:solidFill>
                  <a:srgbClr val="9AA4B2"/>
                </a:solidFill>
                <a:latin typeface="Consolas"/>
              </a:rPr>
              <a:t>Posiciones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8352" y="1600200"/>
            <a:ext cx="370332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0" i="0">
                <a:solidFill>
                  <a:srgbClr val="9AA4B2"/>
                </a:solidFill>
                <a:latin typeface="Consolas"/>
              </a:rPr>
              <a:t>USD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8412" y="160020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50" b="0" i="0">
                <a:solidFill>
                  <a:srgbClr val="9AA4B2"/>
                </a:solidFill>
                <a:latin typeface="Consolas"/>
              </a:rPr>
              <a:t>Kilogramos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88920"/>
            <a:ext cx="5120640" cy="26517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17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36D7C"/>
                </a:solidFill>
                <a:latin typeface="Consolas"/>
              </a:rPr>
              <a:t>DASHBOARD TRADICIONAL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66160"/>
            <a:ext cx="44805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1">
                <a:solidFill>
                  <a:srgbClr val="9AA4B2"/>
                </a:solidFill>
                <a:latin typeface="Segoe UI"/>
              </a:rPr>
              <a:t>"Los pedidos disminuyeron."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2788920"/>
            <a:ext cx="5468112" cy="26517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0175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NEXO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429000"/>
            <a:ext cx="48463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 i="1">
                <a:solidFill>
                  <a:srgbClr val="E8ECF2"/>
                </a:solidFill>
                <a:latin typeface="Segoe UI"/>
              </a:rPr>
              <a:t>“La disminución se concentra en una combinación determinada de sucursal, familia, sector, asesor y clase ABC, que explica una parte material de la variación.”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715000"/>
            <a:ext cx="10817352" cy="68580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70448"/>
            <a:ext cx="102412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E8ECF2"/>
                </a:solidFill>
                <a:latin typeface="Segoe UI"/>
              </a:rPr>
              <a:t>El problema no es visualizar los datos: es encontrar patrones relevantes dentro de muchas combinaciones posibles.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ECF2"/>
                </a:solidFill>
                <a:latin typeface="Consolas"/>
              </a:rPr>
              <a:t>De un CSV a una conclusión verificable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502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36D7C"/>
                </a:solidFill>
                <a:latin typeface="Consolas"/>
              </a:rPr>
              <a:t>03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544982" cy="502920"/>
          </a:xfrm>
          <a:prstGeom prst="roundRect">
            <a:avLst>
              <a:gd name="adj" fmla="val 18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0" i="0">
                <a:solidFill>
                  <a:srgbClr val="E8ECF2"/>
                </a:solidFill>
                <a:latin typeface="Consolas"/>
              </a:rPr>
              <a:t>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0782" y="2103120"/>
            <a:ext cx="2560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36D7C"/>
                </a:solidFill>
                <a:latin typeface="Segoe U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86814" y="2103120"/>
            <a:ext cx="1069848" cy="502920"/>
          </a:xfrm>
          <a:prstGeom prst="roundRect">
            <a:avLst>
              <a:gd name="adj" fmla="val 18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0" i="0">
                <a:solidFill>
                  <a:srgbClr val="E8ECF2"/>
                </a:solidFill>
                <a:latin typeface="Consolas"/>
              </a:rPr>
              <a:t>Validación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6662" y="2103120"/>
            <a:ext cx="2560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36D7C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2694" y="2103120"/>
            <a:ext cx="1219809" cy="502920"/>
          </a:xfrm>
          <a:prstGeom prst="roundRect">
            <a:avLst>
              <a:gd name="adj" fmla="val 18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0" i="0">
                <a:solidFill>
                  <a:srgbClr val="E8ECF2"/>
                </a:solidFill>
                <a:latin typeface="Consolas"/>
              </a:rPr>
              <a:t>Motor 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2503" y="2103120"/>
            <a:ext cx="2560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36D7C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5" y="2103120"/>
            <a:ext cx="1894636" cy="502920"/>
          </a:xfrm>
          <a:prstGeom prst="roundRect">
            <a:avLst>
              <a:gd name="adj" fmla="val 18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0" i="0">
                <a:solidFill>
                  <a:srgbClr val="E8ECF2"/>
                </a:solidFill>
                <a:latin typeface="Consolas"/>
              </a:rPr>
              <a:t>Detección de patrones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3171" y="2103120"/>
            <a:ext cx="2560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36D7C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9203" y="2103120"/>
            <a:ext cx="470001" cy="502920"/>
          </a:xfrm>
          <a:prstGeom prst="roundRect">
            <a:avLst>
              <a:gd name="adj" fmla="val 18000"/>
            </a:avLst>
          </a:prstGeom>
          <a:solidFill>
            <a:srgbClr val="141820"/>
          </a:solidFill>
          <a:ln w="15875">
            <a:solidFill>
              <a:srgbClr val="3D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0" i="0">
                <a:solidFill>
                  <a:srgbClr val="3DD6CE"/>
                </a:solidFill>
                <a:latin typeface="Consolas"/>
              </a:rPr>
              <a:t>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9204" y="2103120"/>
            <a:ext cx="25603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i="0">
                <a:solidFill>
                  <a:srgbClr val="636D7C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65236" y="2103120"/>
            <a:ext cx="1894636" cy="502920"/>
          </a:xfrm>
          <a:prstGeom prst="roundRect">
            <a:avLst>
              <a:gd name="adj" fmla="val 18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50" b="0" i="0">
                <a:solidFill>
                  <a:srgbClr val="E8ECF2"/>
                </a:solidFill>
                <a:latin typeface="Consolas"/>
              </a:rPr>
              <a:t>Conclusión y gráficos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1600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AA4B2"/>
                </a:solidFill>
                <a:latin typeface="Segoe UI"/>
              </a:rPr>
              <a:t>El flujo completo, en 6 pasos: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91840"/>
            <a:ext cx="10817352" cy="100584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520440"/>
            <a:ext cx="10149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E8ECF2"/>
                </a:solidFill>
                <a:latin typeface="Segoe UI"/>
              </a:rPr>
              <a:t>La IA no recibe la base completa ni calcula los valores por su cuenta.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1772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350" b="1" i="0">
                <a:solidFill>
                  <a:srgbClr val="E8ECF2"/>
                </a:solidFill>
                <a:latin typeface="Segoe UI"/>
              </a:rPr>
              <a:t>Validación: </a:t>
            </a:r>
            <a:r>
              <a:rPr sz="1350" b="0" i="0">
                <a:solidFill>
                  <a:srgbClr val="9AA4B2"/>
                </a:solidFill>
                <a:latin typeface="Segoe UI"/>
              </a:rPr>
              <a:t>tipos, columnas obligatorias, fechas, duplicados, semanas mínimas.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350" b="1" i="0">
                <a:solidFill>
                  <a:srgbClr val="E8ECF2"/>
                </a:solidFill>
                <a:latin typeface="Segoe UI"/>
              </a:rPr>
              <a:t>Motor: </a:t>
            </a:r>
            <a:r>
              <a:rPr sz="1350" b="0" i="0">
                <a:solidFill>
                  <a:srgbClr val="9AA4B2"/>
                </a:solidFill>
                <a:latin typeface="Segoe UI"/>
              </a:rPr>
              <a:t>calcula las 31 combinaciones posibles entre 5 dimensiones (diapositiva 5).</a:t>
            </a:r>
          </a:p>
          <a:p>
            <a:pPr>
              <a:spcAft>
                <a:spcPts val="800"/>
              </a:spcAft>
            </a:pPr>
            <a:r>
              <a:rPr sz="13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350" b="1" i="0">
                <a:solidFill>
                  <a:srgbClr val="E8ECF2"/>
                </a:solidFill>
                <a:latin typeface="Segoe UI"/>
              </a:rPr>
              <a:t>IA: </a:t>
            </a:r>
            <a:r>
              <a:rPr sz="1350" b="0" i="0">
                <a:solidFill>
                  <a:srgbClr val="9AA4B2"/>
                </a:solidFill>
                <a:latin typeface="Segoe UI"/>
              </a:rPr>
              <a:t>sólo entra al final, con herramientas de solo lectura sobre esos resultados (diapositiva 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MOTOR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ECF2"/>
                </a:solidFill>
                <a:latin typeface="Consolas"/>
              </a:rPr>
              <a:t>Todo el cálculo es determinístico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502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36D7C"/>
                </a:solidFill>
                <a:latin typeface="Consolas"/>
              </a:rPr>
              <a:t>04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544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Segoe UI"/>
              </a:rPr>
              <a:t>16 semanas analizadas, divididas en 3 ventanas: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4160520" cy="502920"/>
          </a:xfrm>
          <a:prstGeom prst="rect">
            <a:avLst/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8 semanas — histórico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965960"/>
            <a:ext cx="2084831" cy="502920"/>
          </a:xfrm>
          <a:prstGeom prst="rect">
            <a:avLst/>
          </a:prstGeom>
          <a:solidFill>
            <a:srgbClr val="141820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4 — comparativo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6931151" y="1965960"/>
            <a:ext cx="2084831" cy="502920"/>
          </a:xfrm>
          <a:prstGeom prst="rect">
            <a:avLst/>
          </a:prstGeom>
          <a:solidFill>
            <a:srgbClr val="1C7D78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 i="0">
                <a:solidFill>
                  <a:srgbClr val="E8ECF2"/>
                </a:solidFill>
                <a:latin typeface="Consolas"/>
              </a:rPr>
              <a:t>4 — reciente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060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D7C"/>
                </a:solidFill>
                <a:latin typeface="Segoe UI"/>
              </a:rPr>
              <a:t>Período actual vs. período comparativo = la variación que se explica. El histórico da contexto de persistencia.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MÉTRICAS QUE CALCULA EL MOTOR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66160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USD de pedidos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20824" y="3566160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Pedidos únicos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3566160"/>
            <a:ext cx="758952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Clientes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35661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Posiciones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48656" y="3566160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Kilogramos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3566160"/>
            <a:ext cx="1303020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Ticket promedio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5532" y="3566160"/>
            <a:ext cx="1458468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Posiciones/pedido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53728" y="3566160"/>
            <a:ext cx="992124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Variación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55580" y="3566160"/>
            <a:ext cx="1147572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Participación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005072"/>
            <a:ext cx="1847088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Contribución al cambio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642616" y="4005072"/>
            <a:ext cx="1691640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Persistencia semanal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43984" y="4005072"/>
            <a:ext cx="992124" cy="329184"/>
          </a:xfrm>
          <a:prstGeom prst="roundRect">
            <a:avLst>
              <a:gd name="adj" fmla="val 50000"/>
            </a:avLst>
          </a:prstGeom>
          <a:solidFill>
            <a:srgbClr val="191E27"/>
          </a:solidFill>
          <a:ln w="9525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100" b="0" i="0">
                <a:solidFill>
                  <a:srgbClr val="9AA4B2"/>
                </a:solidFill>
                <a:latin typeface="Consolas"/>
              </a:rPr>
              <a:t>Volatilidad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62356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76072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ECF2"/>
                </a:solidFill>
                <a:latin typeface="Segoe UI"/>
              </a:rPr>
              <a:t>Un pedido se cuenta como documento único (pedido_id), no como fila del CSV: un pedido con 3 líneas de familias distintas sigue siendo 1 pedido.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MOTOR PYTHON — PROFUNDIDAD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ECF2"/>
                </a:solidFill>
                <a:latin typeface="Consolas"/>
              </a:rPr>
              <a:t>31 combinaciones, siempre calculadas todas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502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36D7C"/>
                </a:solidFill>
                <a:latin typeface="Consolas"/>
              </a:rPr>
              <a:t>05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1965960" cy="10515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719072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3DD6CE"/>
                </a:solidFill>
                <a:latin typeface="Consola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Segoe UI"/>
              </a:rPr>
              <a:t>1 dimensión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828800"/>
            <a:ext cx="118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636D7C"/>
                </a:solidFill>
                <a:latin typeface="Segoe UI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1600200"/>
            <a:ext cx="1965960" cy="10515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719072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3DD6CE"/>
                </a:solidFill>
                <a:latin typeface="Consolas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0632" y="22860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Segoe UI"/>
              </a:rPr>
              <a:t>2 dimensiones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828800"/>
            <a:ext cx="118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636D7C"/>
                </a:solidFill>
                <a:latin typeface="Segoe U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55464" y="1600200"/>
            <a:ext cx="1965960" cy="10515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55464" y="1719072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3DD6CE"/>
                </a:solidFill>
                <a:latin typeface="Consolas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55464" y="22860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Segoe UI"/>
              </a:rPr>
              <a:t>3 dimensiones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1424" y="1828800"/>
            <a:ext cx="118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636D7C"/>
                </a:solidFill>
                <a:latin typeface="Segoe UI"/>
              </a:rPr>
              <a:t>+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0296" y="1600200"/>
            <a:ext cx="1965960" cy="10515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0296" y="1719072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3DD6CE"/>
                </a:solidFill>
                <a:latin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0296" y="22860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Segoe UI"/>
              </a:rPr>
              <a:t>4 dimensiones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06256" y="1828800"/>
            <a:ext cx="118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636D7C"/>
                </a:solidFill>
                <a:latin typeface="Segoe UI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1600200"/>
            <a:ext cx="1965960" cy="10515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25128" y="1719072"/>
            <a:ext cx="1965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 i="0">
                <a:solidFill>
                  <a:srgbClr val="3DD6CE"/>
                </a:solidFill>
                <a:latin typeface="Consola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25128" y="2286000"/>
            <a:ext cx="1965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9AA4B2"/>
                </a:solidFill>
                <a:latin typeface="Segoe UI"/>
              </a:rPr>
              <a:t>5 dimensiones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1828800"/>
            <a:ext cx="118872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E8ECF2"/>
                </a:solidFill>
                <a:latin typeface="Consolas"/>
              </a:rPr>
              <a:t>= 31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9718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LAS 5 DIMENSIONES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337560"/>
            <a:ext cx="758952" cy="329184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9525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0" i="0">
                <a:solidFill>
                  <a:srgbClr val="E8ECF2"/>
                </a:solidFill>
                <a:latin typeface="Consolas"/>
              </a:rPr>
              <a:t>Sucursal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4752" y="3337560"/>
            <a:ext cx="320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636D7C"/>
                </a:solidFill>
                <a:latin typeface="Segoe UI"/>
              </a:rPr>
              <a:t>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764792" y="3337560"/>
            <a:ext cx="681228" cy="329184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9525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0" i="0">
                <a:solidFill>
                  <a:srgbClr val="E8ECF2"/>
                </a:solidFill>
                <a:latin typeface="Consolas"/>
              </a:rPr>
              <a:t>Familia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6020" y="3337560"/>
            <a:ext cx="320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636D7C"/>
                </a:solidFill>
                <a:latin typeface="Segoe UI"/>
              </a:rPr>
              <a:t>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66060" y="3337560"/>
            <a:ext cx="1458468" cy="329184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9525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0" i="0">
                <a:solidFill>
                  <a:srgbClr val="E8ECF2"/>
                </a:solidFill>
                <a:latin typeface="Consolas"/>
              </a:rPr>
              <a:t>Sector industrial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24528" y="3337560"/>
            <a:ext cx="320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636D7C"/>
                </a:solidFill>
                <a:latin typeface="Segoe UI"/>
              </a:rPr>
              <a:t>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44568" y="3337560"/>
            <a:ext cx="603504" cy="329184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9525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0" i="0">
                <a:solidFill>
                  <a:srgbClr val="E8ECF2"/>
                </a:solidFill>
                <a:latin typeface="Consolas"/>
              </a:rPr>
              <a:t>Asesor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48072" y="3337560"/>
            <a:ext cx="320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 i="0">
                <a:solidFill>
                  <a:srgbClr val="636D7C"/>
                </a:solidFill>
                <a:latin typeface="Segoe UI"/>
              </a:rPr>
              <a:t>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68112" y="3337560"/>
            <a:ext cx="836676" cy="329184"/>
          </a:xfrm>
          <a:prstGeom prst="roundRect">
            <a:avLst>
              <a:gd name="adj" fmla="val 50000"/>
            </a:avLst>
          </a:prstGeom>
          <a:solidFill>
            <a:srgbClr val="141820"/>
          </a:solidFill>
          <a:ln w="9525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 wrap="none"/>
          <a:lstStyle/>
          <a:p>
            <a:pPr algn="ctr"/>
            <a:r>
              <a:rPr sz="1300" b="0" i="0">
                <a:solidFill>
                  <a:srgbClr val="E8ECF2"/>
                </a:solidFill>
                <a:latin typeface="Consolas"/>
              </a:rPr>
              <a:t>Clase ABC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0233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9AA4B2"/>
                </a:solidFill>
                <a:latin typeface="Segoe UI"/>
              </a:rPr>
              <a:t>Se calculan las 31 combinaciones completas. Sólo se muestran las que cumplen: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43484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350" b="0" i="0">
                <a:solidFill>
                  <a:srgbClr val="9AA4B2"/>
                </a:solidFill>
                <a:latin typeface="Segoe UI"/>
              </a:rPr>
              <a:t>Impacto relevante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350" b="0" i="0">
                <a:solidFill>
                  <a:srgbClr val="9AA4B2"/>
                </a:solidFill>
                <a:latin typeface="Segoe UI"/>
              </a:rPr>
              <a:t>Volumen suficiente de pedidos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350" b="0" i="0">
                <a:solidFill>
                  <a:srgbClr val="9AA4B2"/>
                </a:solidFill>
                <a:latin typeface="Segoe UI"/>
              </a:rPr>
              <a:t>Persistencia semanal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350" b="0" i="0">
                <a:solidFill>
                  <a:srgbClr val="9AA4B2"/>
                </a:solidFill>
                <a:latin typeface="Segoe UI"/>
              </a:rPr>
              <a:t>Contribución material a la variación total</a:t>
            </a:r>
          </a:p>
          <a:p>
            <a:pPr>
              <a:spcAft>
                <a:spcPts val="600"/>
              </a:spcAft>
            </a:pPr>
            <a:r>
              <a:rPr sz="13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350" b="0" i="0">
                <a:solidFill>
                  <a:srgbClr val="9AA4B2"/>
                </a:solidFill>
                <a:latin typeface="Segoe UI"/>
              </a:rPr>
              <a:t>Evidencia estadística suficiente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989320"/>
            <a:ext cx="10817352" cy="5943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6108192"/>
            <a:ext cx="10241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8ECF2"/>
                </a:solidFill>
                <a:latin typeface="Segoe UI"/>
              </a:rPr>
              <a:t>La profundidad no depende de que la IA “piense mejor”, sino de que Python le entregue evidencia multivariable ya calculada.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DIVISIÓN DEL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ECF2"/>
                </a:solidFill>
                <a:latin typeface="Consolas"/>
              </a:rPr>
              <a:t>Python calcula. La IA investiga y explica.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502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36D7C"/>
                </a:solidFill>
                <a:latin typeface="Consolas"/>
              </a:rPr>
              <a:t>06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166360" cy="301752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DD6CE"/>
                </a:solidFill>
                <a:latin typeface="Consolas"/>
              </a:rPr>
              <a:t>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94560"/>
            <a:ext cx="4617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Calcula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Agrupa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Compara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Filtra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Puntúa patrones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Prepara los datos de los gráficos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600200"/>
            <a:ext cx="5166360" cy="301752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1783080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3DD6CE"/>
                </a:solidFill>
                <a:latin typeface="Consolas"/>
              </a:rPr>
              <a:t>INTELIGENCIA ARTIFICIAL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194560"/>
            <a:ext cx="461772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Investiga los resultados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Compara explicaciones alternativas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Selecciona los patrones relevantes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Redacta conclusiones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Explica la evidencia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400" b="0" i="0">
                <a:solidFill>
                  <a:srgbClr val="9AA4B2"/>
                </a:solidFill>
                <a:latin typeface="Segoe UI"/>
              </a:rPr>
              <a:t>Decide qué visualización ayuda a comprobarla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463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2A63C"/>
                </a:solidFill>
                <a:latin typeface="Consolas"/>
              </a:rPr>
              <a:t>REGLAS DE SEGURIDAD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212080"/>
            <a:ext cx="103327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50" b="0" i="0">
                <a:solidFill>
                  <a:srgbClr val="9AA4B2"/>
                </a:solidFill>
                <a:latin typeface="Segoe UI"/>
              </a:rPr>
              <a:t>No inventa cifras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50" b="0" i="0">
                <a:solidFill>
                  <a:srgbClr val="9AA4B2"/>
                </a:solidFill>
                <a:latin typeface="Segoe UI"/>
              </a:rPr>
              <a:t>No calcula sobre texto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50" b="0" i="0">
                <a:solidFill>
                  <a:srgbClr val="9AA4B2"/>
                </a:solidFill>
                <a:latin typeface="Segoe UI"/>
              </a:rPr>
              <a:t>No accede directamente al CSV completo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50" b="0" i="0">
                <a:solidFill>
                  <a:srgbClr val="9AA4B2"/>
                </a:solidFill>
                <a:latin typeface="Segoe UI"/>
              </a:rPr>
              <a:t>No puede afirmar causalidad comercial sin evidencia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50" b="0" i="0">
                <a:solidFill>
                  <a:srgbClr val="9AA4B2"/>
                </a:solidFill>
                <a:latin typeface="Segoe UI"/>
              </a:rPr>
              <a:t>Indica cuando no existe una causa dominante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EVIDENCIA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ECF2"/>
                </a:solidFill>
                <a:latin typeface="Consolas"/>
              </a:rPr>
              <a:t>La conclusión y el gráfico usan los mismos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502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36D7C"/>
                </a:solidFill>
                <a:latin typeface="Consolas"/>
              </a:rPr>
              <a:t>07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120640" cy="324612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CONCLUSIÓN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05740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E8ECF2"/>
                </a:solidFill>
                <a:latin typeface="Segoe UI"/>
              </a:rPr>
              <a:t>Sucursal Norte × Familia Alfa explica una caída material del período reciente.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EVIDENCIA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83280"/>
            <a:ext cx="45720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50" b="0" i="0">
                <a:solidFill>
                  <a:srgbClr val="9AA4B2"/>
                </a:solidFill>
                <a:latin typeface="Segoe UI"/>
              </a:rPr>
              <a:t>USD: 27.161 → 10.600 (-61%)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50" b="0" i="0">
                <a:solidFill>
                  <a:srgbClr val="9AA4B2"/>
                </a:solidFill>
                <a:latin typeface="Segoe UI"/>
              </a:rPr>
              <a:t>Pedidos: 12 vs. 12 (mismo volumen, ticket menor)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50" b="0" i="0">
                <a:solidFill>
                  <a:srgbClr val="9AA4B2"/>
                </a:solidFill>
                <a:latin typeface="Segoe UI"/>
              </a:rPr>
              <a:t>Contribución material a la variación total</a:t>
            </a:r>
          </a:p>
          <a:p>
            <a:pPr>
              <a:spcAft>
                <a:spcPts val="600"/>
              </a:spcAft>
            </a:pPr>
            <a:r>
              <a:rPr sz="12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50" b="0" i="0">
                <a:solidFill>
                  <a:srgbClr val="9AA4B2"/>
                </a:solidFill>
                <a:latin typeface="Segoe UI"/>
              </a:rPr>
              <a:t>Persistente en las 4 semanas recientes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554480"/>
            <a:ext cx="5468112" cy="324612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737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VALIDACIÓN VISUAL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1031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36D7C"/>
                </a:solidFill>
                <a:latin typeface="Segoe UI"/>
              </a:rPr>
              <a:t>[Insertar: gráfico de línea o barras real de la app]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514600"/>
            <a:ext cx="4892040" cy="210312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7086600" y="3383280"/>
            <a:ext cx="457200" cy="91440"/>
          </a:xfrm>
          <a:prstGeom prst="line">
            <a:avLst/>
          </a:prstGeom>
          <a:ln w="28575">
            <a:solidFill>
              <a:srgbClr val="3D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543800" y="3383280"/>
            <a:ext cx="457200" cy="228600"/>
          </a:xfrm>
          <a:prstGeom prst="line">
            <a:avLst/>
          </a:prstGeom>
          <a:ln w="28575">
            <a:solidFill>
              <a:srgbClr val="3D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01000" y="3611880"/>
            <a:ext cx="457200" cy="182880"/>
          </a:xfrm>
          <a:prstGeom prst="line">
            <a:avLst/>
          </a:prstGeom>
          <a:ln w="28575">
            <a:solidFill>
              <a:srgbClr val="3D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58200" y="3794760"/>
            <a:ext cx="457200" cy="411481"/>
          </a:xfrm>
          <a:prstGeom prst="line">
            <a:avLst/>
          </a:prstGeom>
          <a:ln w="28575">
            <a:solidFill>
              <a:srgbClr val="3D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915400" y="4206241"/>
            <a:ext cx="457200" cy="228599"/>
          </a:xfrm>
          <a:prstGeom prst="line">
            <a:avLst/>
          </a:prstGeom>
          <a:ln w="28575">
            <a:solidFill>
              <a:srgbClr val="3D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372600" y="4434840"/>
            <a:ext cx="457200" cy="137160"/>
          </a:xfrm>
          <a:prstGeom prst="line">
            <a:avLst/>
          </a:prstGeom>
          <a:ln w="28575">
            <a:solidFill>
              <a:srgbClr val="3D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29800" y="4572000"/>
            <a:ext cx="457200" cy="182879"/>
          </a:xfrm>
          <a:prstGeom prst="line">
            <a:avLst/>
          </a:prstGeom>
          <a:ln w="28575">
            <a:solidFill>
              <a:srgbClr val="3DD6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507492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9AA4B2"/>
                </a:solidFill>
                <a:latin typeface="Segoe UI"/>
              </a:rPr>
              <a:t>Tipos de gráfico disponibles: línea de evolución · barras de contribución · heatmap entre dimensiones · cambio de mix · tabla de valores exactos.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62356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760720"/>
            <a:ext cx="10241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ECF2"/>
                </a:solidFill>
                <a:latin typeface="Segoe UI"/>
              </a:rPr>
              <a:t>La IA pide el tipo de gráfico y los filtros; Python vuelve a calcular los valores que se representan — texto y gráfico nunca pueden contradecirse.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INTERFAZ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E8ECF2"/>
                </a:solidFill>
                <a:latin typeface="Consolas"/>
              </a:rPr>
              <a:t>Compacta, orientada a decisiones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502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36D7C"/>
                </a:solidFill>
                <a:latin typeface="Consolas"/>
              </a:rPr>
              <a:t>08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6675120" cy="416052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35661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636D7C"/>
                </a:solidFill>
                <a:latin typeface="Segoe UI"/>
              </a:rPr>
              <a:t>[ Insertar captura real</a:t>
            </a:r>
          </a:p>
          <a:p>
            <a:pPr algn="ctr">
              <a:spcAft>
                <a:spcPts val="400"/>
              </a:spcAft>
            </a:pPr>
            <a:r>
              <a:rPr sz="1300" b="0" i="1">
                <a:solidFill>
                  <a:srgbClr val="636D7C"/>
                </a:solidFill>
                <a:latin typeface="Segoe UI"/>
              </a:rPr>
              <a:t>de la aplicación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6916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QUÉ SEÑALAR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057400"/>
            <a:ext cx="30175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00" b="0" i="0">
                <a:solidFill>
                  <a:srgbClr val="9AA4B2"/>
                </a:solidFill>
                <a:latin typeface="Segoe UI"/>
              </a:rPr>
              <a:t>Carga del CSV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00" b="0" i="0">
                <a:solidFill>
                  <a:srgbClr val="9AA4B2"/>
                </a:solidFill>
                <a:latin typeface="Segoe UI"/>
              </a:rPr>
              <a:t>Estado de validación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00" b="0" i="0">
                <a:solidFill>
                  <a:srgbClr val="9AA4B2"/>
                </a:solidFill>
                <a:latin typeface="Segoe UI"/>
              </a:rPr>
              <a:t>Indicadores principales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00" b="0" i="0">
                <a:solidFill>
                  <a:srgbClr val="9AA4B2"/>
                </a:solidFill>
                <a:latin typeface="Segoe UI"/>
              </a:rPr>
              <a:t>Evolución semanal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00" b="0" i="0">
                <a:solidFill>
                  <a:srgbClr val="9AA4B2"/>
                </a:solidFill>
                <a:latin typeface="Segoe UI"/>
              </a:rPr>
              <a:t>Hallazgos priorizados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00" b="0" i="0">
                <a:solidFill>
                  <a:srgbClr val="9AA4B2"/>
                </a:solidFill>
                <a:latin typeface="Segoe UI"/>
              </a:rPr>
              <a:t>Copiloto de IA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200" b="0" i="0">
                <a:solidFill>
                  <a:srgbClr val="9AA4B2"/>
                </a:solidFill>
                <a:latin typeface="Segoe UI"/>
              </a:rPr>
              <a:t>Gráficos contextuales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5989320"/>
            <a:ext cx="10817352" cy="5943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6108192"/>
            <a:ext cx="102412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E8ECF2"/>
                </a:solidFill>
                <a:latin typeface="Segoe UI"/>
              </a:rPr>
              <a:t>Compacta · visualmente clara · orientada a decisiones · sin dashboards innecesariamente extensos.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E8ECF2"/>
                </a:solidFill>
                <a:latin typeface="Consolas"/>
              </a:rPr>
              <a:t>Arquitectura y por qué cada pieza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502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36D7C"/>
                </a:solidFill>
                <a:latin typeface="Consolas"/>
              </a:rPr>
              <a:t>09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615184" cy="260604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Next.js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6032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Tailwind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9184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Componentes propios 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Apache ECharts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554480"/>
            <a:ext cx="2615184" cy="260604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719072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19456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Python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56032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292608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Polars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2615184" cy="260604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719072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DATOS (opcional)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9456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Supabase Database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56032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Supabase Storage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15400" y="1554480"/>
            <a:ext cx="2615184" cy="260604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719072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INTELIGENCIA ARTIFICIAL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19456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OpenAI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56032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Tool calling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2926080"/>
            <a:ext cx="2249424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E8ECF2"/>
                </a:solidFill>
                <a:latin typeface="Segoe UI"/>
              </a:rPr>
              <a:t>Respuestas estructuradas 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34340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636D7C"/>
                </a:solidFill>
                <a:latin typeface="Segoe UI"/>
              </a:rPr>
              <a:t>*  componentes propios estilo shadcn/ui (no la librería) · respuestas con JSON Schema estricto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091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INFRAESTRUCTURA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029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9AA4B2"/>
                </a:solidFill>
                <a:latin typeface="Segoe UI"/>
              </a:rPr>
              <a:t>Vercel (frontend)  ·  Render (backend)  ·  GitHub (versionado y entrega reproducible)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POR QUÉ CADA UNA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06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50" b="1" i="0">
                <a:solidFill>
                  <a:srgbClr val="E8ECF2"/>
                </a:solidFill>
                <a:latin typeface="Segoe UI"/>
              </a:rPr>
              <a:t>Polars: </a:t>
            </a:r>
            <a:r>
              <a:rPr sz="1150" b="0" i="0">
                <a:solidFill>
                  <a:srgbClr val="9AA4B2"/>
                </a:solidFill>
                <a:latin typeface="Segoe UI"/>
              </a:rPr>
              <a:t>cálculos eficientes y repetidos (31 cruces en cada corrida).</a:t>
            </a:r>
          </a:p>
          <a:p>
            <a:pPr>
              <a:spcAft>
                <a:spcPts val="400"/>
              </a:spcAft>
            </a:pPr>
            <a:r>
              <a:rPr sz="11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50" b="1" i="0">
                <a:solidFill>
                  <a:srgbClr val="E8ECF2"/>
                </a:solidFill>
                <a:latin typeface="Segoe UI"/>
              </a:rPr>
              <a:t>FastAPI: </a:t>
            </a:r>
            <a:r>
              <a:rPr sz="1150" b="0" i="0">
                <a:solidFill>
                  <a:srgbClr val="9AA4B2"/>
                </a:solidFill>
                <a:latin typeface="Segoe UI"/>
              </a:rPr>
              <a:t>expone el motor analítico con contratos tipados.</a:t>
            </a:r>
          </a:p>
          <a:p>
            <a:pPr>
              <a:spcAft>
                <a:spcPts val="400"/>
              </a:spcAft>
            </a:pPr>
            <a:r>
              <a:rPr sz="11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50" b="1" i="0">
                <a:solidFill>
                  <a:srgbClr val="E8ECF2"/>
                </a:solidFill>
                <a:latin typeface="Segoe UI"/>
              </a:rPr>
              <a:t>Next.js: </a:t>
            </a:r>
            <a:r>
              <a:rPr sz="1150" b="0" i="0">
                <a:solidFill>
                  <a:srgbClr val="9AA4B2"/>
                </a:solidFill>
                <a:latin typeface="Segoe UI"/>
              </a:rPr>
              <a:t>interfaz profesional con tipos compartidos con el backend.</a:t>
            </a:r>
          </a:p>
          <a:p>
            <a:pPr>
              <a:spcAft>
                <a:spcPts val="400"/>
              </a:spcAft>
            </a:pPr>
            <a:r>
              <a:rPr sz="115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50" b="1" i="0">
                <a:solidFill>
                  <a:srgbClr val="E8ECF2"/>
                </a:solidFill>
                <a:latin typeface="Segoe UI"/>
              </a:rPr>
              <a:t>OpenAI: </a:t>
            </a:r>
            <a:r>
              <a:rPr sz="1150" b="0" i="0">
                <a:solidFill>
                  <a:srgbClr val="9AA4B2"/>
                </a:solidFill>
                <a:latin typeface="Segoe UI"/>
              </a:rPr>
              <a:t>interpretación contextual con salida verificable (tool calling).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3DD6CE"/>
                </a:solidFill>
                <a:latin typeface="Consolas"/>
              </a:rPr>
              <a:t>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04672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E8ECF2"/>
                </a:solidFill>
                <a:latin typeface="Consolas"/>
              </a:rPr>
              <a:t>Resultado, limitaciones y 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502920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 i="0">
                <a:solidFill>
                  <a:srgbClr val="636D7C"/>
                </a:solidFill>
                <a:latin typeface="Consolas"/>
              </a:rPr>
              <a:t>10 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2A31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1907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4FB477"/>
                </a:solidFill>
                <a:latin typeface="Consolas"/>
              </a:rPr>
              <a:t>RESULTADO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971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Aplicación funcional y desplegada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Carga y validación de CSV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Análisis de las 31 combinaciones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Hallazgos priorizados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Respuestas con evidencia citada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Visualizaciones verificables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Dataset sintético para demostración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554480"/>
            <a:ext cx="3429000" cy="292608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E2A6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19072"/>
            <a:ext cx="2971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E2A63C"/>
                </a:solidFill>
                <a:latin typeface="Consolas"/>
              </a:rPr>
              <a:t>LIMITACIONES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03120"/>
            <a:ext cx="2971800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Las conclusiones dependen de la calidad de los datos cargados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Identifica relaciones matemáticas, no causas comerciales definitivas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Las recomendaciones requieren validación humana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›  </a:t>
            </a:r>
            <a:r>
              <a:rPr sz="1100" b="0" i="0">
                <a:solidFill>
                  <a:srgbClr val="9AA4B2"/>
                </a:solidFill>
                <a:latin typeface="Segoe UI"/>
              </a:rPr>
              <a:t>Especializado en la estructura de datos definida (5 dimensiones fijas)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554480"/>
            <a:ext cx="3383280" cy="292608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1C7D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71907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DD6CE"/>
                </a:solidFill>
                <a:latin typeface="Consolas"/>
              </a:rPr>
              <a:t>CONCLUSIÓN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103120"/>
            <a:ext cx="29260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E8ECF2"/>
                </a:solidFill>
                <a:latin typeface="Segoe UI"/>
              </a:rPr>
              <a:t>Nexo IA no reemplaza al analista ni a un dashboard. Automatiza la búsqueda de patrones complejos y transforma cálculos reproducibles en explicaciones comprensibles y verificables.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5488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141820"/>
          </a:solidFill>
          <a:ln w="12700">
            <a:solidFill>
              <a:srgbClr val="3DD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37760"/>
            <a:ext cx="101498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E8ECF2"/>
                </a:solidFill>
                <a:latin typeface="Segoe UI"/>
              </a:rPr>
              <a:t>El principal aporte del proyecto es combinar la exactitud de Python con la capacidad interpretativa de la inteligencia artificial, manteniendo trazabilidad sobre cada conclusión.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36D7C"/>
                </a:solidFill>
                <a:latin typeface="Consolas"/>
              </a:rPr>
              <a:t>59 tests automatizados en verde  ·  nexo-ia-eta.vercel.app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